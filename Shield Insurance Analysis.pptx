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6" r:id="rId4"/>
    <p:sldId id="262" r:id="rId5"/>
    <p:sldId id="264" r:id="rId6"/>
    <p:sldId id="272" r:id="rId7"/>
    <p:sldId id="268" r:id="rId8"/>
    <p:sldId id="258" r:id="rId9"/>
    <p:sldId id="259" r:id="rId10"/>
    <p:sldId id="260" r:id="rId11"/>
    <p:sldId id="261" r:id="rId12"/>
    <p:sldId id="265" r:id="rId13"/>
    <p:sldId id="269" r:id="rId14"/>
    <p:sldId id="270" r:id="rId15"/>
    <p:sldId id="271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00"/>
    <a:srgbClr val="0077B6"/>
    <a:srgbClr val="3A7CA5"/>
    <a:srgbClr val="4DA6FF"/>
    <a:srgbClr val="232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13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E4D7-026D-AD93-7D2E-9E6F826E2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47551-EE1B-EAC3-10E0-E3BD2E892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0E9A-5630-09CD-BC46-DA9702E8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8D6A5-A021-C6C7-CA0D-17B34EB4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55C07-E52D-EB13-C6FF-544A1722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40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B131-40C6-4D1E-2D78-E76B0F9B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E907C-7E93-7241-B7AB-DF62A794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9C30-0546-08B6-BA80-3420CCA3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1C202-B22A-20A3-EAEB-A202CA5A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9DF9A-5DFD-F4E0-392E-C59F687C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0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B412-4509-8085-72EE-D1BC64EB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613A2-98ED-517E-DA06-017704B67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F1108-8ECF-CAD3-D28D-700B7CD8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9CBFC-6142-F308-D381-013C8974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8064-1158-10EC-2D73-9F288388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8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A21F-737F-A5CB-D398-B8411B6B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48902-FCB3-4C7F-0BA3-16789357E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178DC-AD79-2495-5246-6E01DFFB4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C1E2D-308E-58F6-6395-DDEFA459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53A49-DF5B-6985-323C-A2BFB571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BCF8C-0795-4E03-48A9-433AB66C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7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6B2D-BC69-27F3-7D92-89ED946F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D956C-947E-1679-5C96-D02626BC4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14257-4A36-0690-D4B4-923ED3163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A2CFB-A73B-821F-66EB-600566FC0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ADD48-5A48-5E87-69DA-021CFF3E2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54355-1215-E977-B309-5D6E3CBF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CC1B0-D8EB-A1E0-4F9D-0F984101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59C8C-DBF8-0312-52C5-05C8176B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4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5819-39D5-DFCB-9CC2-5014777F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29BEB-BF43-7DD5-60A9-2FEDF56E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1A293-20C5-CE27-DF10-0191E2F8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5B42A-B28E-B740-26DF-C81B602C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2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F986C-293F-C2DC-B6C2-6E2EFE7B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1BE61-7F63-36EC-86C4-F41458C2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6A3A-60DE-60AD-0DAF-D2963B71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CD1C-8D07-D69E-A9C9-DEF5E187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487D4-8013-9AE0-DBA5-ACFA1C0FB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852ED-95EA-0157-6685-2953A6208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0CFCE-8ED2-8DFC-6CD1-644A8817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0A83E-B96E-9889-65AF-349E2F6E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A79DB-35E0-9EBC-F1A7-8D708AAE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49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C315-1CFA-B7D0-269A-FC7F129C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740B3-E594-5FA5-9036-C293B2846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A37EE-6CE1-1575-FC81-030F1160F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7B7BD-92D7-26EB-695E-FD57DE01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1908B-A0D9-FC10-BE70-7B618F5D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6A511-B2D7-F4DA-F9EC-84ECA17E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8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0749-8196-E926-2220-2495DFC3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B8538-4167-3300-49C1-934B8CE8E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49DD4-8C69-DE3A-1EAD-57463EB0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57F42-3FAF-1C2C-8B12-59071C63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92BFB-0279-1583-E838-EAE575DE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1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3B5C5-2972-1919-BAE0-7B4640C8C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08861-CEC7-DC15-3C44-B937103C3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C7A12-FEE8-F80C-1925-C82B2D23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5A6F-6DE5-B75E-07A3-3B5025F2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18C92-408B-27F3-7A6C-3ED2FA99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64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AE70E-E64F-735D-DD66-40FD8BEE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83C44-6F16-F81F-B83F-55FC7B19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B22A8-3A03-898C-D73C-1E59E2B53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5BAAC-0A34-4F52-8884-A9762333233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424E1-739F-0CB5-7D47-6DDBF8759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BDAAB-D9AE-4D14-906F-37F1AF61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56204-F800-4532-A0B4-6E4B6A364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51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04F7796-688E-0621-CC51-34D06839B9FB}"/>
              </a:ext>
            </a:extLst>
          </p:cNvPr>
          <p:cNvSpPr txBox="1"/>
          <p:nvPr/>
        </p:nvSpPr>
        <p:spPr>
          <a:xfrm>
            <a:off x="747075" y="3310615"/>
            <a:ext cx="6094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Understanding </a:t>
            </a:r>
            <a:r>
              <a:rPr lang="en-US" sz="2800" b="1">
                <a:solidFill>
                  <a:srgbClr val="FFD300"/>
                </a:solidFill>
              </a:rPr>
              <a:t>customer behavior </a:t>
            </a:r>
            <a:r>
              <a:rPr lang="en-US" sz="2800">
                <a:solidFill>
                  <a:schemeClr val="bg1"/>
                </a:solidFill>
              </a:rPr>
              <a:t>&amp;</a:t>
            </a:r>
            <a:r>
              <a:rPr lang="en-US" sz="2800" b="1">
                <a:solidFill>
                  <a:schemeClr val="bg1"/>
                </a:solidFill>
              </a:rPr>
              <a:t> </a:t>
            </a:r>
            <a:r>
              <a:rPr lang="en-US" sz="2800" b="1">
                <a:solidFill>
                  <a:srgbClr val="FFD300"/>
                </a:solidFill>
              </a:rPr>
              <a:t>revenue trends </a:t>
            </a:r>
            <a:r>
              <a:rPr lang="en-US" sz="2800">
                <a:solidFill>
                  <a:schemeClr val="bg1"/>
                </a:solidFill>
              </a:rPr>
              <a:t>to drive smarter insurance decisions</a:t>
            </a:r>
            <a:endParaRPr lang="en-IN" sz="280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799C3B-D810-B7D9-7177-F27A46782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189" y="620197"/>
            <a:ext cx="2649223" cy="24897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CE7876-3C6F-A84D-458C-00D834355D93}"/>
              </a:ext>
            </a:extLst>
          </p:cNvPr>
          <p:cNvSpPr txBox="1"/>
          <p:nvPr/>
        </p:nvSpPr>
        <p:spPr>
          <a:xfrm>
            <a:off x="747075" y="6312571"/>
            <a:ext cx="3205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solidFill>
                  <a:schemeClr val="bg1"/>
                </a:solidFill>
              </a:rPr>
              <a:t>Presented By : Parth Patoliya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093FCB-81E1-03BF-B933-574860AAF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464" y="949092"/>
            <a:ext cx="4873461" cy="472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11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9F258-61BA-75DB-B15E-838DAE18AD5F}"/>
              </a:ext>
            </a:extLst>
          </p:cNvPr>
          <p:cNvSpPr txBox="1"/>
          <p:nvPr/>
        </p:nvSpPr>
        <p:spPr>
          <a:xfrm>
            <a:off x="1319753" y="1880778"/>
            <a:ext cx="478881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About Company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Project 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Dataset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Key Terms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Dashboard 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Recommendations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11FC6-294F-CCCC-C479-78D3B013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68" y="1324708"/>
            <a:ext cx="5093379" cy="449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440B3B-0DBA-80BD-3CA6-0F7BB65AA5DF}"/>
              </a:ext>
            </a:extLst>
          </p:cNvPr>
          <p:cNvSpPr txBox="1"/>
          <p:nvPr/>
        </p:nvSpPr>
        <p:spPr>
          <a:xfrm>
            <a:off x="1319753" y="1239276"/>
            <a:ext cx="2686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80763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82E4CA-9FD6-8230-DB02-D407BE7D7924}"/>
              </a:ext>
            </a:extLst>
          </p:cNvPr>
          <p:cNvSpPr txBox="1"/>
          <p:nvPr/>
        </p:nvSpPr>
        <p:spPr>
          <a:xfrm>
            <a:off x="713294" y="1743465"/>
            <a:ext cx="1076541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Shield Insurance provides affordable &amp; customizable insurance solutions tailored to individuals across all age groups.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With a presence in Mumbai, Chennai, Delhi, Hyderabad, Indore.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The company operates through offline agents, direct sales teams, a mobile app, and a website.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346FC-CD4E-7498-76B8-0AC44E45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204" y="5158831"/>
            <a:ext cx="1667120" cy="15667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38405-D47E-3259-B147-77D43C4EAFDB}"/>
              </a:ext>
            </a:extLst>
          </p:cNvPr>
          <p:cNvSpPr txBox="1"/>
          <p:nvPr/>
        </p:nvSpPr>
        <p:spPr>
          <a:xfrm>
            <a:off x="4427455" y="513412"/>
            <a:ext cx="3337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ABOUT COMPANY</a:t>
            </a:r>
          </a:p>
        </p:txBody>
      </p:sp>
    </p:spTree>
    <p:extLst>
      <p:ext uri="{BB962C8B-B14F-4D97-AF65-F5344CB8AC3E}">
        <p14:creationId xmlns:p14="http://schemas.microsoft.com/office/powerpoint/2010/main" val="2999367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B942CF-941F-98F0-06A0-2A2B8DBB9B2D}"/>
              </a:ext>
            </a:extLst>
          </p:cNvPr>
          <p:cNvSpPr txBox="1"/>
          <p:nvPr/>
        </p:nvSpPr>
        <p:spPr>
          <a:xfrm>
            <a:off x="773587" y="1387999"/>
            <a:ext cx="673015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Shield Insurance currently lacks a consolidated &amp; interactive view to effectively monitor customer growth, revenue performance,  policy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Additionally, there is limited visibility into how customer behavior varies across age groups, cities, sales modes, and policies.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This makes it difficult for stakeholders to identify growth trends, evaluate sales channel performance &amp; understand demographic impacts on revenue and settlement expectations.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26AC99-193D-4C00-4B55-108736291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578" y="1532839"/>
            <a:ext cx="3914676" cy="39146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3D4A2-FCE5-CC79-F910-6DDEF1CDAF80}"/>
              </a:ext>
            </a:extLst>
          </p:cNvPr>
          <p:cNvSpPr txBox="1"/>
          <p:nvPr/>
        </p:nvSpPr>
        <p:spPr>
          <a:xfrm>
            <a:off x="4044098" y="359234"/>
            <a:ext cx="4103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64987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9CF655-3C2C-3545-DC69-95A7BB69B220}"/>
              </a:ext>
            </a:extLst>
          </p:cNvPr>
          <p:cNvSpPr txBox="1"/>
          <p:nvPr/>
        </p:nvSpPr>
        <p:spPr>
          <a:xfrm>
            <a:off x="324267" y="1950068"/>
            <a:ext cx="686035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Track </a:t>
            </a:r>
            <a:r>
              <a:rPr lang="en-US" b="1">
                <a:solidFill>
                  <a:srgbClr val="FFD300"/>
                </a:solidFill>
              </a:rPr>
              <a:t>total customers </a:t>
            </a:r>
            <a:r>
              <a:rPr lang="en-US" b="1">
                <a:solidFill>
                  <a:schemeClr val="bg1"/>
                </a:solidFill>
              </a:rPr>
              <a:t>&amp;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b="1">
                <a:solidFill>
                  <a:srgbClr val="FFD300"/>
                </a:solidFill>
              </a:rPr>
              <a:t>total revenue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Monitor </a:t>
            </a:r>
            <a:r>
              <a:rPr lang="en-US" b="1">
                <a:solidFill>
                  <a:srgbClr val="FFD300"/>
                </a:solidFill>
              </a:rPr>
              <a:t>daily</a:t>
            </a:r>
            <a:r>
              <a:rPr lang="en-US">
                <a:solidFill>
                  <a:schemeClr val="bg1"/>
                </a:solidFill>
              </a:rPr>
              <a:t> &amp; </a:t>
            </a:r>
            <a:r>
              <a:rPr lang="en-US" b="1">
                <a:solidFill>
                  <a:srgbClr val="FFD300"/>
                </a:solidFill>
              </a:rPr>
              <a:t>month-over-month</a:t>
            </a:r>
            <a:r>
              <a:rPr lang="en-US">
                <a:solidFill>
                  <a:schemeClr val="bg1"/>
                </a:solidFill>
              </a:rPr>
              <a:t> growth trends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Analyze performance across </a:t>
            </a:r>
            <a:r>
              <a:rPr lang="en-US" b="1">
                <a:solidFill>
                  <a:srgbClr val="FFD300"/>
                </a:solidFill>
              </a:rPr>
              <a:t>cities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b="1">
                <a:solidFill>
                  <a:srgbClr val="FFD300"/>
                </a:solidFill>
              </a:rPr>
              <a:t>sales modes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b="1">
                <a:solidFill>
                  <a:srgbClr val="FFD300"/>
                </a:solidFill>
              </a:rPr>
              <a:t>policies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b="1">
                <a:solidFill>
                  <a:srgbClr val="FFD300"/>
                </a:solidFill>
              </a:rPr>
              <a:t>age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Identify high-value customer segments &amp; effective sales channels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Understand age-group-wise revenue contribution &amp; expected settlement exposure</a:t>
            </a:r>
          </a:p>
        </p:txBody>
      </p:sp>
      <p:pic>
        <p:nvPicPr>
          <p:cNvPr id="8" name="Picture 7" descr="A person standing next to a clipboard with a light bulb and a dart&#10;&#10;AI-generated content may be incorrect.">
            <a:extLst>
              <a:ext uri="{FF2B5EF4-FFF2-40B4-BE49-F238E27FC236}">
                <a16:creationId xmlns:a16="http://schemas.microsoft.com/office/drawing/2014/main" id="{9AFA4F05-BE41-E913-197D-9C50E2EF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75" y="1710653"/>
            <a:ext cx="4420558" cy="34366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5B7EF3-F024-17CA-73BD-4B035534788B}"/>
              </a:ext>
            </a:extLst>
          </p:cNvPr>
          <p:cNvSpPr txBox="1"/>
          <p:nvPr/>
        </p:nvSpPr>
        <p:spPr>
          <a:xfrm>
            <a:off x="4286053" y="406368"/>
            <a:ext cx="3619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PROJECT OBJECTIVE</a:t>
            </a:r>
          </a:p>
        </p:txBody>
      </p:sp>
    </p:spTree>
    <p:extLst>
      <p:ext uri="{BB962C8B-B14F-4D97-AF65-F5344CB8AC3E}">
        <p14:creationId xmlns:p14="http://schemas.microsoft.com/office/powerpoint/2010/main" val="2377893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76A7DF-0FA1-10D7-4F73-2F6688A7B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32" y="1103731"/>
            <a:ext cx="6172735" cy="5197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5C51F-E137-A8B4-85C5-7ECD4B00D8F5}"/>
              </a:ext>
            </a:extLst>
          </p:cNvPr>
          <p:cNvSpPr txBox="1"/>
          <p:nvPr/>
        </p:nvSpPr>
        <p:spPr>
          <a:xfrm>
            <a:off x="4602762" y="264591"/>
            <a:ext cx="3205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858275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C00B05-AF3F-C72A-D040-CA9D9865774F}"/>
              </a:ext>
            </a:extLst>
          </p:cNvPr>
          <p:cNvSpPr txBox="1"/>
          <p:nvPr/>
        </p:nvSpPr>
        <p:spPr>
          <a:xfrm>
            <a:off x="4816310" y="1180268"/>
            <a:ext cx="272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>
                <a:solidFill>
                  <a:srgbClr val="0077B6"/>
                </a:solidFill>
              </a:rPr>
              <a:t>KEY TERMS</a:t>
            </a:r>
          </a:p>
        </p:txBody>
      </p:sp>
      <p:pic>
        <p:nvPicPr>
          <p:cNvPr id="6" name="Picture 5" descr="A group of people holding a large key&#10;&#10;AI-generated content may be incorrect.">
            <a:extLst>
              <a:ext uri="{FF2B5EF4-FFF2-40B4-BE49-F238E27FC236}">
                <a16:creationId xmlns:a16="http://schemas.microsoft.com/office/drawing/2014/main" id="{312CDED5-7A10-D2F7-CCE3-0BAACE82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601" y="2028653"/>
            <a:ext cx="3630797" cy="280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47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515197-B2CC-B6E3-8F97-ABC77D313EBB}"/>
              </a:ext>
            </a:extLst>
          </p:cNvPr>
          <p:cNvSpPr txBox="1"/>
          <p:nvPr/>
        </p:nvSpPr>
        <p:spPr>
          <a:xfrm>
            <a:off x="492551" y="1951672"/>
            <a:ext cx="6483283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>
                <a:solidFill>
                  <a:srgbClr val="0077B6"/>
                </a:solidFill>
              </a:rPr>
              <a:t>Base Coverage Amount</a:t>
            </a:r>
            <a:r>
              <a:rPr lang="en-IN">
                <a:solidFill>
                  <a:schemeClr val="bg1"/>
                </a:solidFill>
              </a:rPr>
              <a:t>(</a:t>
            </a:r>
            <a:r>
              <a:rPr lang="en-IN" sz="2400" b="1">
                <a:solidFill>
                  <a:srgbClr val="FFD300"/>
                </a:solidFill>
              </a:rPr>
              <a:t>The Piggy Bank Size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endParaRPr lang="en-I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It is the maximum money the insurance company promises to help you with.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Means how big your piggy bank is or  piggy bank can give me money up to this limit.</a:t>
            </a:r>
          </a:p>
          <a:p>
            <a:pPr>
              <a:lnSpc>
                <a:spcPct val="150000"/>
              </a:lnSpc>
            </a:pPr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Piggy bank size = ₹5,00,000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D4AC2-95DE-2F17-A0AF-6DBC342DA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14" y="1951672"/>
            <a:ext cx="5223446" cy="292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62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A2ADB4-D40A-54CA-AAFC-2707548079E3}"/>
              </a:ext>
            </a:extLst>
          </p:cNvPr>
          <p:cNvSpPr txBox="1"/>
          <p:nvPr/>
        </p:nvSpPr>
        <p:spPr>
          <a:xfrm>
            <a:off x="652806" y="2058625"/>
            <a:ext cx="736940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>
                <a:solidFill>
                  <a:srgbClr val="0077B6"/>
                </a:solidFill>
              </a:rPr>
              <a:t>Premium</a:t>
            </a:r>
            <a:r>
              <a:rPr lang="en-IN">
                <a:solidFill>
                  <a:schemeClr val="bg1"/>
                </a:solidFill>
              </a:rPr>
              <a:t> (</a:t>
            </a:r>
            <a:r>
              <a:rPr lang="en-IN" sz="2400" b="1">
                <a:solidFill>
                  <a:srgbClr val="FFD300"/>
                </a:solidFill>
              </a:rPr>
              <a:t>Money You Put in the Piggy Bank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This is the small amount you pay regularly to keep the piggy bank active.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I pay a little money so the piggy bank will help me later.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Example:</a:t>
            </a:r>
          </a:p>
          <a:p>
            <a:r>
              <a:rPr lang="en-IN">
                <a:solidFill>
                  <a:schemeClr val="bg1"/>
                </a:solidFill>
              </a:rPr>
              <a:t>You pay ₹1,000 every month or ₹10,000 a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D25AAB-B087-20C0-3822-087EBA905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43" y="1085163"/>
            <a:ext cx="4423723" cy="442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6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69D734-C3AE-EB0F-2FE2-27615260BA83}"/>
              </a:ext>
            </a:extLst>
          </p:cNvPr>
          <p:cNvSpPr txBox="1"/>
          <p:nvPr/>
        </p:nvSpPr>
        <p:spPr>
          <a:xfrm>
            <a:off x="668912" y="2267143"/>
            <a:ext cx="6681247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>
                <a:solidFill>
                  <a:srgbClr val="0077B6"/>
                </a:solidFill>
              </a:rPr>
              <a:t>Claim</a:t>
            </a:r>
            <a:r>
              <a:rPr lang="en-IN">
                <a:solidFill>
                  <a:schemeClr val="bg1"/>
                </a:solidFill>
              </a:rPr>
              <a:t>(</a:t>
            </a:r>
            <a:r>
              <a:rPr lang="en-IN" sz="2400" b="1">
                <a:solidFill>
                  <a:srgbClr val="FFD300"/>
                </a:solidFill>
              </a:rPr>
              <a:t>Something Bad Happens &amp; asking for help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You ask the piggy bank for help.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When You fall sick, meet with an accident, or something breaks.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Example:</a:t>
            </a:r>
          </a:p>
          <a:p>
            <a:r>
              <a:rPr lang="en-IN">
                <a:solidFill>
                  <a:schemeClr val="bg1"/>
                </a:solidFill>
              </a:rPr>
              <a:t>You ask for ₹3,00,000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00C4A-A660-E535-8047-812FF84AB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63" y="0"/>
            <a:ext cx="3916049" cy="2791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1BC694-EE58-BA80-1E17-6AD6B4C09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063" y="2883798"/>
            <a:ext cx="3133625" cy="31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53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E3F5D9-FE0F-24E1-BEDE-78E2A58D7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292" y="1512114"/>
            <a:ext cx="4259343" cy="3833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49681B-065D-C657-97DE-381EB6D8A3AD}"/>
              </a:ext>
            </a:extLst>
          </p:cNvPr>
          <p:cNvSpPr txBox="1"/>
          <p:nvPr/>
        </p:nvSpPr>
        <p:spPr>
          <a:xfrm>
            <a:off x="365365" y="943703"/>
            <a:ext cx="6940410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>
                <a:solidFill>
                  <a:srgbClr val="0077B6"/>
                </a:solidFill>
              </a:rPr>
              <a:t>Settlement Amount </a:t>
            </a:r>
            <a:r>
              <a:rPr lang="en-IN">
                <a:solidFill>
                  <a:schemeClr val="bg1"/>
                </a:solidFill>
              </a:rPr>
              <a:t>(</a:t>
            </a:r>
            <a:r>
              <a:rPr lang="en-IN" sz="2400" b="1">
                <a:solidFill>
                  <a:srgbClr val="FFD300"/>
                </a:solidFill>
              </a:rPr>
              <a:t>Money You Get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The insurance company checks the rules and then gives you money.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This is the money the piggy bank actually gives me.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Example:</a:t>
            </a:r>
          </a:p>
          <a:p>
            <a:r>
              <a:rPr lang="en-IN">
                <a:solidFill>
                  <a:schemeClr val="bg1"/>
                </a:solidFill>
              </a:rPr>
              <a:t>They give ₹2,40,000</a:t>
            </a:r>
          </a:p>
          <a:p>
            <a:endParaRPr lang="en-IN">
              <a:solidFill>
                <a:schemeClr val="bg1"/>
              </a:solidFill>
            </a:endParaRP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sz="2800" b="1">
                <a:solidFill>
                  <a:srgbClr val="0077B6"/>
                </a:solidFill>
              </a:rPr>
              <a:t>Settlement Percentage </a:t>
            </a:r>
            <a:r>
              <a:rPr lang="en-IN">
                <a:solidFill>
                  <a:schemeClr val="bg1"/>
                </a:solidFill>
              </a:rPr>
              <a:t>(</a:t>
            </a:r>
            <a:r>
              <a:rPr lang="en-IN" sz="2400" b="1">
                <a:solidFill>
                  <a:srgbClr val="FFD300"/>
                </a:solidFill>
              </a:rPr>
              <a:t>How Much Help You Got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Higher settlement% = reliable policyholder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Example:</a:t>
            </a:r>
          </a:p>
          <a:p>
            <a:r>
              <a:rPr lang="en-IN">
                <a:solidFill>
                  <a:schemeClr val="bg1"/>
                </a:solidFill>
              </a:rPr>
              <a:t>Asked for: ₹100</a:t>
            </a:r>
          </a:p>
          <a:p>
            <a:r>
              <a:rPr lang="en-IN">
                <a:solidFill>
                  <a:schemeClr val="bg1"/>
                </a:solidFill>
              </a:rPr>
              <a:t>Got: ₹80</a:t>
            </a:r>
          </a:p>
          <a:p>
            <a:r>
              <a:rPr lang="en-IN">
                <a:solidFill>
                  <a:schemeClr val="bg1"/>
                </a:solidFill>
              </a:rPr>
              <a:t>Settlement % = 80%</a:t>
            </a:r>
          </a:p>
        </p:txBody>
      </p:sp>
    </p:spTree>
    <p:extLst>
      <p:ext uri="{BB962C8B-B14F-4D97-AF65-F5344CB8AC3E}">
        <p14:creationId xmlns:p14="http://schemas.microsoft.com/office/powerpoint/2010/main" val="3136666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A1D2B-CCEB-06D0-744D-2285BCDF04A3}"/>
              </a:ext>
            </a:extLst>
          </p:cNvPr>
          <p:cNvSpPr txBox="1"/>
          <p:nvPr/>
        </p:nvSpPr>
        <p:spPr>
          <a:xfrm>
            <a:off x="4987957" y="850331"/>
            <a:ext cx="2216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>
                <a:solidFill>
                  <a:srgbClr val="0077B6"/>
                </a:solidFill>
              </a:rPr>
              <a:t>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355003-A9FC-723B-CD51-77E64A34D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420" y="1664420"/>
            <a:ext cx="3529160" cy="352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9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201C54-E502-CE96-16A2-FCA201586F99}"/>
              </a:ext>
            </a:extLst>
          </p:cNvPr>
          <p:cNvSpPr txBox="1"/>
          <p:nvPr/>
        </p:nvSpPr>
        <p:spPr>
          <a:xfrm>
            <a:off x="838985" y="579748"/>
            <a:ext cx="4835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City Level Insights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A8512-929C-165C-DA17-2561522464D2}"/>
              </a:ext>
            </a:extLst>
          </p:cNvPr>
          <p:cNvSpPr txBox="1"/>
          <p:nvPr/>
        </p:nvSpPr>
        <p:spPr>
          <a:xfrm>
            <a:off x="838985" y="1399783"/>
            <a:ext cx="8465271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Delhi NCR</a:t>
            </a:r>
            <a:r>
              <a:rPr lang="en-US" sz="2000">
                <a:solidFill>
                  <a:schemeClr val="bg1"/>
                </a:solidFill>
              </a:rPr>
              <a:t>: Highest revenue </a:t>
            </a:r>
            <a:r>
              <a:rPr lang="en-IN" sz="2000">
                <a:solidFill>
                  <a:srgbClr val="FFD300"/>
                </a:solidFill>
              </a:rPr>
              <a:t>₹</a:t>
            </a:r>
            <a:r>
              <a:rPr lang="en-US" sz="2000" b="1">
                <a:solidFill>
                  <a:srgbClr val="FFD300"/>
                </a:solidFill>
              </a:rPr>
              <a:t>401.57M</a:t>
            </a:r>
            <a:r>
              <a:rPr lang="en-US" sz="2000">
                <a:solidFill>
                  <a:schemeClr val="bg1"/>
                </a:solidFill>
              </a:rPr>
              <a:t> | Highest customers </a:t>
            </a:r>
            <a:r>
              <a:rPr lang="en-US" sz="2000" b="1">
                <a:solidFill>
                  <a:srgbClr val="FFD300"/>
                </a:solidFill>
              </a:rPr>
              <a:t>11,007</a:t>
            </a:r>
            <a:endParaRPr lang="en-US" sz="2000">
              <a:solidFill>
                <a:srgbClr val="FFD3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Indore</a:t>
            </a:r>
            <a:r>
              <a:rPr lang="en-US" sz="2000">
                <a:solidFill>
                  <a:schemeClr val="bg1"/>
                </a:solidFill>
              </a:rPr>
              <a:t>: Lowest revenue </a:t>
            </a:r>
            <a:r>
              <a:rPr lang="en-IN" sz="2000">
                <a:solidFill>
                  <a:srgbClr val="FFD300"/>
                </a:solidFill>
              </a:rPr>
              <a:t>₹</a:t>
            </a:r>
            <a:r>
              <a:rPr lang="en-US" sz="2000" b="1">
                <a:solidFill>
                  <a:srgbClr val="FFD300"/>
                </a:solidFill>
              </a:rPr>
              <a:t>81.35M</a:t>
            </a:r>
            <a:r>
              <a:rPr lang="en-US" sz="2000">
                <a:solidFill>
                  <a:schemeClr val="bg1"/>
                </a:solidFill>
              </a:rPr>
              <a:t> | Lowest customers </a:t>
            </a:r>
            <a:r>
              <a:rPr lang="en-US" sz="2000" b="1">
                <a:solidFill>
                  <a:srgbClr val="FFD300"/>
                </a:solidFill>
              </a:rPr>
              <a:t>2,096</a:t>
            </a:r>
            <a:endParaRPr lang="en-US" sz="2000">
              <a:solidFill>
                <a:srgbClr val="FFD3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Delhi</a:t>
            </a:r>
            <a:r>
              <a:rPr lang="en-US" sz="2000" b="1">
                <a:solidFill>
                  <a:schemeClr val="bg1"/>
                </a:solidFill>
              </a:rPr>
              <a:t> &amp; </a:t>
            </a:r>
            <a:r>
              <a:rPr lang="en-US" sz="2000" b="1">
                <a:solidFill>
                  <a:srgbClr val="FFD300"/>
                </a:solidFill>
              </a:rPr>
              <a:t>Mumbai</a:t>
            </a:r>
            <a:r>
              <a:rPr lang="en-US" sz="2000">
                <a:solidFill>
                  <a:schemeClr val="bg1"/>
                </a:solidFill>
              </a:rPr>
              <a:t>: Only cities with </a:t>
            </a:r>
            <a:r>
              <a:rPr lang="en-US" sz="2000" b="1">
                <a:solidFill>
                  <a:srgbClr val="FFD300"/>
                </a:solidFill>
              </a:rPr>
              <a:t>1,000+</a:t>
            </a:r>
            <a:r>
              <a:rPr lang="en-US" sz="2000" b="1">
                <a:solidFill>
                  <a:schemeClr val="bg1"/>
                </a:soli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customers across all sales modes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Indore</a:t>
            </a:r>
            <a:r>
              <a:rPr lang="en-US" sz="2000">
                <a:solidFill>
                  <a:schemeClr val="bg1"/>
                </a:solidFill>
              </a:rPr>
              <a:t>: Weak customers presence (</a:t>
            </a:r>
            <a:r>
              <a:rPr lang="en-US" sz="2000" b="1">
                <a:solidFill>
                  <a:srgbClr val="FFD300"/>
                </a:solidFill>
              </a:rPr>
              <a:t>250–350</a:t>
            </a:r>
            <a:r>
              <a:rPr lang="en-US" sz="2000">
                <a:solidFill>
                  <a:schemeClr val="bg1"/>
                </a:solidFill>
              </a:rPr>
              <a:t>) except Offline Agent (</a:t>
            </a:r>
            <a:r>
              <a:rPr lang="en-US" sz="2000" b="1">
                <a:solidFill>
                  <a:srgbClr val="FFD300"/>
                </a:solidFill>
              </a:rPr>
              <a:t>1,176</a:t>
            </a:r>
            <a:r>
              <a:rPr lang="en-US" sz="200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March</a:t>
            </a:r>
            <a:r>
              <a:rPr lang="en-US" sz="2000">
                <a:solidFill>
                  <a:schemeClr val="bg1"/>
                </a:solidFill>
              </a:rPr>
              <a:t>: Peak month — Revenue </a:t>
            </a:r>
            <a:r>
              <a:rPr lang="en-IN" sz="2000">
                <a:solidFill>
                  <a:srgbClr val="FFD300"/>
                </a:solidFill>
              </a:rPr>
              <a:t>₹ </a:t>
            </a:r>
            <a:r>
              <a:rPr lang="en-US" sz="2000" b="1">
                <a:solidFill>
                  <a:srgbClr val="FFD300"/>
                </a:solidFill>
              </a:rPr>
              <a:t>264M</a:t>
            </a:r>
            <a:r>
              <a:rPr lang="en-US" sz="2000">
                <a:solidFill>
                  <a:schemeClr val="bg1"/>
                </a:solidFill>
              </a:rPr>
              <a:t>, Customers </a:t>
            </a:r>
            <a:r>
              <a:rPr lang="en-US" sz="2000" b="1">
                <a:solidFill>
                  <a:srgbClr val="FFD300"/>
                </a:solidFill>
              </a:rPr>
              <a:t>7,081</a:t>
            </a:r>
            <a:endParaRPr lang="en-US" sz="2000">
              <a:solidFill>
                <a:srgbClr val="FFD3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D300"/>
                </a:solidFill>
              </a:rPr>
              <a:t>November</a:t>
            </a:r>
            <a:r>
              <a:rPr lang="en-US" sz="2000">
                <a:solidFill>
                  <a:schemeClr val="bg1"/>
                </a:solidFill>
              </a:rPr>
              <a:t>: Weakest month — Revenue </a:t>
            </a:r>
            <a:r>
              <a:rPr lang="en-IN" sz="2000">
                <a:solidFill>
                  <a:srgbClr val="FFD300"/>
                </a:solidFill>
              </a:rPr>
              <a:t>₹</a:t>
            </a:r>
            <a:r>
              <a:rPr lang="en-US" sz="2000" b="1">
                <a:solidFill>
                  <a:srgbClr val="FFD300"/>
                </a:solidFill>
              </a:rPr>
              <a:t>132M</a:t>
            </a:r>
            <a:r>
              <a:rPr lang="en-US" sz="2000">
                <a:solidFill>
                  <a:schemeClr val="bg1"/>
                </a:solidFill>
              </a:rPr>
              <a:t>, Customers </a:t>
            </a:r>
            <a:r>
              <a:rPr lang="en-US" sz="2000" b="1">
                <a:solidFill>
                  <a:srgbClr val="FFD300"/>
                </a:solidFill>
              </a:rPr>
              <a:t>3,787</a:t>
            </a:r>
            <a:endParaRPr lang="en-US" sz="2000">
              <a:solidFill>
                <a:srgbClr val="FFD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544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15BBAE-251F-ECD1-AC89-CD243976100A}"/>
              </a:ext>
            </a:extLst>
          </p:cNvPr>
          <p:cNvSpPr txBox="1"/>
          <p:nvPr/>
        </p:nvSpPr>
        <p:spPr>
          <a:xfrm>
            <a:off x="907330" y="363418"/>
            <a:ext cx="4835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Age Group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9932C-628B-D7FA-46A4-B2F8C412CE56}"/>
              </a:ext>
            </a:extLst>
          </p:cNvPr>
          <p:cNvSpPr txBox="1"/>
          <p:nvPr/>
        </p:nvSpPr>
        <p:spPr>
          <a:xfrm>
            <a:off x="897903" y="1166841"/>
            <a:ext cx="11121272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31–40</a:t>
            </a:r>
            <a:r>
              <a:rPr lang="en-IN">
                <a:solidFill>
                  <a:schemeClr val="bg1"/>
                </a:solidFill>
              </a:rPr>
              <a:t>: Highest revenue </a:t>
            </a:r>
            <a:r>
              <a:rPr lang="en-IN">
                <a:solidFill>
                  <a:srgbClr val="FFD300"/>
                </a:solidFill>
              </a:rPr>
              <a:t>₹ </a:t>
            </a:r>
            <a:r>
              <a:rPr lang="en-IN" b="1">
                <a:solidFill>
                  <a:srgbClr val="FFD300"/>
                </a:solidFill>
              </a:rPr>
              <a:t>309.32M </a:t>
            </a:r>
            <a:r>
              <a:rPr lang="en-IN">
                <a:solidFill>
                  <a:schemeClr val="bg1"/>
                </a:solidFill>
              </a:rPr>
              <a:t>| Highest customers </a:t>
            </a:r>
            <a:r>
              <a:rPr lang="en-IN" b="1">
                <a:solidFill>
                  <a:srgbClr val="FFD300"/>
                </a:solidFill>
              </a:rPr>
              <a:t>10,431</a:t>
            </a:r>
            <a:endParaRPr lang="en-I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50+</a:t>
            </a:r>
            <a:r>
              <a:rPr lang="en-IN">
                <a:solidFill>
                  <a:schemeClr val="bg1"/>
                </a:solidFill>
              </a:rPr>
              <a:t>: Strong </a:t>
            </a:r>
            <a:r>
              <a:rPr lang="en-IN" b="1">
                <a:solidFill>
                  <a:srgbClr val="FFD300"/>
                </a:solidFill>
              </a:rPr>
              <a:t>11,400</a:t>
            </a:r>
            <a:r>
              <a:rPr lang="en-IN">
                <a:solidFill>
                  <a:schemeClr val="bg1"/>
                </a:solidFill>
              </a:rPr>
              <a:t> customer base | Highest settlement % (</a:t>
            </a:r>
            <a:r>
              <a:rPr lang="en-IN" b="1">
                <a:solidFill>
                  <a:srgbClr val="FFD300"/>
                </a:solidFill>
              </a:rPr>
              <a:t>65+</a:t>
            </a:r>
            <a:r>
              <a:rPr lang="en-IN">
                <a:solidFill>
                  <a:schemeClr val="bg1"/>
                </a:solidFill>
              </a:rPr>
              <a:t> → </a:t>
            </a:r>
            <a:r>
              <a:rPr lang="en-IN" b="1">
                <a:solidFill>
                  <a:srgbClr val="FFD300"/>
                </a:solidFill>
              </a:rPr>
              <a:t>74.33%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Under 30 (</a:t>
            </a:r>
            <a:r>
              <a:rPr lang="en-IN" b="1">
                <a:solidFill>
                  <a:srgbClr val="FFD300"/>
                </a:solidFill>
              </a:rPr>
              <a:t>18–24</a:t>
            </a:r>
            <a:r>
              <a:rPr lang="en-IN">
                <a:solidFill>
                  <a:schemeClr val="bg1"/>
                </a:solidFill>
              </a:rPr>
              <a:t> &amp; </a:t>
            </a:r>
            <a:r>
              <a:rPr lang="en-IN" b="1">
                <a:solidFill>
                  <a:srgbClr val="FFD300"/>
                </a:solidFill>
              </a:rPr>
              <a:t>25–30</a:t>
            </a:r>
            <a:r>
              <a:rPr lang="en-IN">
                <a:solidFill>
                  <a:schemeClr val="bg1"/>
                </a:solidFill>
              </a:rPr>
              <a:t>): Lowest revenue (</a:t>
            </a:r>
            <a:r>
              <a:rPr lang="en-IN">
                <a:solidFill>
                  <a:srgbClr val="FFD300"/>
                </a:solidFill>
              </a:rPr>
              <a:t>₹</a:t>
            </a:r>
            <a:r>
              <a:rPr lang="en-IN" b="1">
                <a:solidFill>
                  <a:srgbClr val="FFD300"/>
                </a:solidFill>
              </a:rPr>
              <a:t>24.94M</a:t>
            </a:r>
            <a:r>
              <a:rPr lang="en-IN">
                <a:solidFill>
                  <a:schemeClr val="bg1"/>
                </a:solidFill>
              </a:rPr>
              <a:t>,</a:t>
            </a:r>
            <a:r>
              <a:rPr lang="en-IN">
                <a:solidFill>
                  <a:srgbClr val="FFD300"/>
                </a:solidFill>
              </a:rPr>
              <a:t> ₹</a:t>
            </a:r>
            <a:r>
              <a:rPr lang="en-IN" b="1">
                <a:solidFill>
                  <a:srgbClr val="FFD300"/>
                </a:solidFill>
              </a:rPr>
              <a:t>56.73M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Settlement % </a:t>
            </a:r>
            <a:r>
              <a:rPr lang="en-IN">
                <a:solidFill>
                  <a:schemeClr val="bg1"/>
                </a:solidFill>
              </a:rPr>
              <a:t>increases with age, huge increase after 50+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POL2005HEL</a:t>
            </a:r>
            <a:r>
              <a:rPr lang="en-IN">
                <a:solidFill>
                  <a:schemeClr val="bg1"/>
                </a:solidFill>
              </a:rPr>
              <a:t>: Top revenue generator across all age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Policy preference by age groups based on total customers :</a:t>
            </a:r>
          </a:p>
          <a:p>
            <a:pPr>
              <a:lnSpc>
                <a:spcPct val="150000"/>
              </a:lnSpc>
            </a:pPr>
            <a:r>
              <a:rPr lang="en-IN">
                <a:solidFill>
                  <a:schemeClr val="bg1"/>
                </a:solidFill>
              </a:rPr>
              <a:t>      - 18–30 → POL4321HEL</a:t>
            </a:r>
          </a:p>
          <a:p>
            <a:pPr>
              <a:lnSpc>
                <a:spcPct val="150000"/>
              </a:lnSpc>
            </a:pPr>
            <a:r>
              <a:rPr lang="en-IN">
                <a:solidFill>
                  <a:schemeClr val="bg1"/>
                </a:solidFill>
              </a:rPr>
              <a:t>      - 31–40 → POL3309HEL </a:t>
            </a:r>
          </a:p>
          <a:p>
            <a:pPr>
              <a:lnSpc>
                <a:spcPct val="150000"/>
              </a:lnSpc>
            </a:pPr>
            <a:r>
              <a:rPr lang="en-IN">
                <a:solidFill>
                  <a:schemeClr val="bg1"/>
                </a:solidFill>
              </a:rPr>
              <a:t>      - 41–50 → POL5319HEL </a:t>
            </a:r>
          </a:p>
          <a:p>
            <a:pPr>
              <a:lnSpc>
                <a:spcPct val="150000"/>
              </a:lnSpc>
            </a:pPr>
            <a:r>
              <a:rPr lang="en-IN">
                <a:solidFill>
                  <a:schemeClr val="bg1"/>
                </a:solidFill>
              </a:rPr>
              <a:t>      - 51–65 → POL9221HEL </a:t>
            </a:r>
          </a:p>
          <a:p>
            <a:pPr>
              <a:lnSpc>
                <a:spcPct val="150000"/>
              </a:lnSpc>
            </a:pPr>
            <a:r>
              <a:rPr lang="en-IN">
                <a:solidFill>
                  <a:schemeClr val="bg1"/>
                </a:solidFill>
              </a:rPr>
              <a:t>      - 65+ → POL2005HEL</a:t>
            </a:r>
          </a:p>
        </p:txBody>
      </p:sp>
    </p:spTree>
    <p:extLst>
      <p:ext uri="{BB962C8B-B14F-4D97-AF65-F5344CB8AC3E}">
        <p14:creationId xmlns:p14="http://schemas.microsoft.com/office/powerpoint/2010/main" val="1826452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6C8BF1-C944-F49A-D716-BC2107A7D626}"/>
              </a:ext>
            </a:extLst>
          </p:cNvPr>
          <p:cNvSpPr txBox="1"/>
          <p:nvPr/>
        </p:nvSpPr>
        <p:spPr>
          <a:xfrm>
            <a:off x="907330" y="363418"/>
            <a:ext cx="5936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077B6"/>
                </a:solidFill>
              </a:rPr>
              <a:t>Sales Mode &amp; Policy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F45B8-A507-F6C8-2CF9-D66CDA0FF57D}"/>
              </a:ext>
            </a:extLst>
          </p:cNvPr>
          <p:cNvSpPr txBox="1"/>
          <p:nvPr/>
        </p:nvSpPr>
        <p:spPr>
          <a:xfrm>
            <a:off x="907330" y="1166842"/>
            <a:ext cx="989578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Offline Agent </a:t>
            </a:r>
            <a:r>
              <a:rPr lang="en-IN">
                <a:solidFill>
                  <a:schemeClr val="bg1"/>
                </a:solidFill>
              </a:rPr>
              <a:t>: Dominates Customers </a:t>
            </a:r>
            <a:r>
              <a:rPr lang="en-IN" b="1">
                <a:solidFill>
                  <a:srgbClr val="FFD300"/>
                </a:solidFill>
              </a:rPr>
              <a:t>14,873</a:t>
            </a:r>
            <a:r>
              <a:rPr lang="en-IN">
                <a:solidFill>
                  <a:schemeClr val="bg1"/>
                </a:solidFill>
              </a:rPr>
              <a:t> (</a:t>
            </a:r>
            <a:r>
              <a:rPr lang="en-IN" b="1">
                <a:solidFill>
                  <a:srgbClr val="FFD300"/>
                </a:solidFill>
              </a:rPr>
              <a:t>55.41%</a:t>
            </a:r>
            <a:r>
              <a:rPr lang="en-IN">
                <a:solidFill>
                  <a:schemeClr val="bg1"/>
                </a:solidFill>
              </a:rPr>
              <a:t>) | Revenue </a:t>
            </a:r>
            <a:r>
              <a:rPr lang="en-IN">
                <a:solidFill>
                  <a:srgbClr val="FFD300"/>
                </a:solidFill>
              </a:rPr>
              <a:t>₹</a:t>
            </a:r>
            <a:r>
              <a:rPr lang="en-IN" b="1">
                <a:solidFill>
                  <a:srgbClr val="FFD300"/>
                </a:solidFill>
              </a:rPr>
              <a:t>551M</a:t>
            </a:r>
            <a:r>
              <a:rPr lang="en-IN">
                <a:solidFill>
                  <a:schemeClr val="bg1"/>
                </a:solidFill>
              </a:rPr>
              <a:t> (</a:t>
            </a:r>
            <a:r>
              <a:rPr lang="en-IN" b="1">
                <a:solidFill>
                  <a:srgbClr val="FFD300"/>
                </a:solidFill>
              </a:rPr>
              <a:t>55.67%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FFD300"/>
                </a:solidFill>
              </a:rPr>
              <a:t>Online Website </a:t>
            </a:r>
            <a:r>
              <a:rPr lang="en-IN">
                <a:solidFill>
                  <a:schemeClr val="bg1"/>
                </a:solidFill>
              </a:rPr>
              <a:t>: Weakest Customers </a:t>
            </a:r>
            <a:r>
              <a:rPr lang="en-IN" b="1">
                <a:solidFill>
                  <a:srgbClr val="FFD300"/>
                </a:solidFill>
              </a:rPr>
              <a:t>3,410</a:t>
            </a:r>
            <a:r>
              <a:rPr lang="en-IN">
                <a:solidFill>
                  <a:schemeClr val="bg1"/>
                </a:solidFill>
              </a:rPr>
              <a:t> (</a:t>
            </a:r>
            <a:r>
              <a:rPr lang="en-IN" b="1">
                <a:solidFill>
                  <a:srgbClr val="FFD300"/>
                </a:solidFill>
              </a:rPr>
              <a:t>12.7%</a:t>
            </a:r>
            <a:r>
              <a:rPr lang="en-IN">
                <a:solidFill>
                  <a:schemeClr val="bg1"/>
                </a:solidFill>
              </a:rPr>
              <a:t>) | Revenue </a:t>
            </a:r>
            <a:r>
              <a:rPr lang="en-IN">
                <a:solidFill>
                  <a:srgbClr val="FFD300"/>
                </a:solidFill>
              </a:rPr>
              <a:t>₹</a:t>
            </a:r>
            <a:r>
              <a:rPr lang="en-IN" b="1">
                <a:solidFill>
                  <a:srgbClr val="FFD300"/>
                </a:solidFill>
              </a:rPr>
              <a:t>125M</a:t>
            </a:r>
            <a:r>
              <a:rPr lang="en-IN">
                <a:solidFill>
                  <a:schemeClr val="bg1"/>
                </a:solidFill>
              </a:rPr>
              <a:t> (</a:t>
            </a:r>
            <a:r>
              <a:rPr lang="en-IN" b="1">
                <a:solidFill>
                  <a:srgbClr val="FFD300"/>
                </a:solidFill>
              </a:rPr>
              <a:t>12.6%</a:t>
            </a:r>
            <a:r>
              <a:rPr lang="en-IN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Policy Performance:</a:t>
            </a:r>
          </a:p>
          <a:p>
            <a:pPr>
              <a:lnSpc>
                <a:spcPct val="150000"/>
              </a:lnSpc>
            </a:pPr>
            <a:r>
              <a:rPr lang="en-IN" b="1">
                <a:solidFill>
                  <a:srgbClr val="FFD300"/>
                </a:solidFill>
              </a:rPr>
              <a:t>     - POL2005HEL </a:t>
            </a:r>
            <a:r>
              <a:rPr lang="en-IN">
                <a:solidFill>
                  <a:schemeClr val="bg1"/>
                </a:solidFill>
              </a:rPr>
              <a:t>: Highest revenue </a:t>
            </a:r>
            <a:r>
              <a:rPr lang="en-IN">
                <a:solidFill>
                  <a:srgbClr val="FFD300"/>
                </a:solidFill>
              </a:rPr>
              <a:t>₹</a:t>
            </a:r>
            <a:r>
              <a:rPr lang="en-IN" b="1">
                <a:solidFill>
                  <a:srgbClr val="FFD300"/>
                </a:solidFill>
              </a:rPr>
              <a:t>324M</a:t>
            </a:r>
            <a:r>
              <a:rPr lang="en-IN">
                <a:solidFill>
                  <a:schemeClr val="bg1"/>
                </a:solidFill>
              </a:rPr>
              <a:t>, low customers </a:t>
            </a:r>
            <a:r>
              <a:rPr lang="en-IN" b="1">
                <a:solidFill>
                  <a:srgbClr val="FFD300"/>
                </a:solidFill>
              </a:rPr>
              <a:t>1,968</a:t>
            </a:r>
            <a:endParaRPr lang="en-IN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>
                <a:solidFill>
                  <a:srgbClr val="FFD300"/>
                </a:solidFill>
              </a:rPr>
              <a:t>     - POL4321HEL </a:t>
            </a:r>
            <a:r>
              <a:rPr lang="en-IN">
                <a:solidFill>
                  <a:schemeClr val="bg1"/>
                </a:solidFill>
              </a:rPr>
              <a:t>: Highest customers</a:t>
            </a:r>
            <a:r>
              <a:rPr lang="en-IN" b="1">
                <a:solidFill>
                  <a:srgbClr val="FFD300"/>
                </a:solidFill>
              </a:rPr>
              <a:t> 4,434</a:t>
            </a:r>
            <a:r>
              <a:rPr lang="en-IN">
                <a:solidFill>
                  <a:schemeClr val="bg1"/>
                </a:solidFill>
              </a:rPr>
              <a:t>, lowest revenue </a:t>
            </a:r>
            <a:r>
              <a:rPr lang="en-IN">
                <a:solidFill>
                  <a:srgbClr val="FFD300"/>
                </a:solidFill>
              </a:rPr>
              <a:t>₹</a:t>
            </a:r>
            <a:r>
              <a:rPr lang="en-IN" b="1">
                <a:solidFill>
                  <a:srgbClr val="FFD300"/>
                </a:solidFill>
              </a:rPr>
              <a:t>25M</a:t>
            </a:r>
            <a:endParaRPr lang="en-I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Only 4 policies cross &gt;100M revenue : </a:t>
            </a:r>
            <a:r>
              <a:rPr lang="en-IN" b="1">
                <a:solidFill>
                  <a:srgbClr val="FFD300"/>
                </a:solidFill>
              </a:rPr>
              <a:t>POL2005HEL</a:t>
            </a:r>
            <a:r>
              <a:rPr lang="en-IN">
                <a:solidFill>
                  <a:schemeClr val="bg1"/>
                </a:solidFill>
              </a:rPr>
              <a:t>, </a:t>
            </a:r>
            <a:r>
              <a:rPr lang="en-IN" b="1">
                <a:solidFill>
                  <a:srgbClr val="FFD300"/>
                </a:solidFill>
              </a:rPr>
              <a:t>POL1048HEL</a:t>
            </a:r>
            <a:r>
              <a:rPr lang="en-IN">
                <a:solidFill>
                  <a:schemeClr val="bg1"/>
                </a:solidFill>
              </a:rPr>
              <a:t>, </a:t>
            </a:r>
            <a:r>
              <a:rPr lang="en-IN" b="1">
                <a:solidFill>
                  <a:srgbClr val="FFD300"/>
                </a:solidFill>
              </a:rPr>
              <a:t>POL6303HEL</a:t>
            </a:r>
            <a:r>
              <a:rPr lang="en-IN">
                <a:solidFill>
                  <a:schemeClr val="bg1"/>
                </a:solidFill>
              </a:rPr>
              <a:t>, </a:t>
            </a:r>
            <a:r>
              <a:rPr lang="en-IN" b="1">
                <a:solidFill>
                  <a:srgbClr val="FFD300"/>
                </a:solidFill>
              </a:rPr>
              <a:t>POL9221HEL</a:t>
            </a:r>
          </a:p>
        </p:txBody>
      </p:sp>
    </p:spTree>
    <p:extLst>
      <p:ext uri="{BB962C8B-B14F-4D97-AF65-F5344CB8AC3E}">
        <p14:creationId xmlns:p14="http://schemas.microsoft.com/office/powerpoint/2010/main" val="2797901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497EF9-05EB-4149-B1AE-FB819967CAC4}"/>
              </a:ext>
            </a:extLst>
          </p:cNvPr>
          <p:cNvSpPr txBox="1"/>
          <p:nvPr/>
        </p:nvSpPr>
        <p:spPr>
          <a:xfrm>
            <a:off x="3992840" y="249954"/>
            <a:ext cx="4206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>
                <a:solidFill>
                  <a:srgbClr val="0077B6"/>
                </a:solidFill>
              </a:rPr>
              <a:t>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568E0-971F-5185-3BA6-2DF88676C850}"/>
              </a:ext>
            </a:extLst>
          </p:cNvPr>
          <p:cNvSpPr txBox="1"/>
          <p:nvPr/>
        </p:nvSpPr>
        <p:spPr>
          <a:xfrm>
            <a:off x="666691" y="1396169"/>
            <a:ext cx="1085861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Prioritize core segments (</a:t>
            </a:r>
            <a:r>
              <a:rPr lang="en-US" b="1">
                <a:solidFill>
                  <a:srgbClr val="FFD300"/>
                </a:solidFill>
              </a:rPr>
              <a:t>31–40</a:t>
            </a:r>
            <a:r>
              <a:rPr lang="en-US">
                <a:solidFill>
                  <a:schemeClr val="bg1"/>
                </a:solidFill>
              </a:rPr>
              <a:t> &amp; </a:t>
            </a:r>
            <a:r>
              <a:rPr lang="en-US" b="1">
                <a:solidFill>
                  <a:srgbClr val="FFD300"/>
                </a:solidFill>
              </a:rPr>
              <a:t>50+</a:t>
            </a:r>
            <a:r>
              <a:rPr lang="en-US">
                <a:solidFill>
                  <a:schemeClr val="bg1"/>
                </a:solidFill>
              </a:rPr>
              <a:t>) to maximize revenue, retention &amp; settlement trust.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Fix underperforming segments (</a:t>
            </a:r>
            <a:r>
              <a:rPr lang="en-US" b="1">
                <a:solidFill>
                  <a:srgbClr val="FFD300"/>
                </a:solidFill>
              </a:rPr>
              <a:t>Under-30</a:t>
            </a:r>
            <a:r>
              <a:rPr lang="en-US">
                <a:solidFill>
                  <a:schemeClr val="bg1"/>
                </a:solidFill>
              </a:rPr>
              <a:t> &amp; </a:t>
            </a:r>
            <a:r>
              <a:rPr lang="en-US" b="1">
                <a:solidFill>
                  <a:srgbClr val="FFD300"/>
                </a:solidFill>
              </a:rPr>
              <a:t>Tier-2</a:t>
            </a:r>
            <a:r>
              <a:rPr lang="en-US">
                <a:solidFill>
                  <a:schemeClr val="bg1"/>
                </a:solidFill>
              </a:rPr>
              <a:t> cities like Indore) to unlock untapped growth.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Strengthen </a:t>
            </a:r>
            <a:r>
              <a:rPr lang="en-US" b="1">
                <a:solidFill>
                  <a:srgbClr val="FFD300"/>
                </a:solidFill>
              </a:rPr>
              <a:t>Offline Agent</a:t>
            </a:r>
            <a:r>
              <a:rPr lang="en-US">
                <a:solidFill>
                  <a:schemeClr val="bg1"/>
                </a:solidFill>
              </a:rPr>
              <a:t> dominance while urgently upgrading the </a:t>
            </a:r>
            <a:r>
              <a:rPr lang="en-US" b="1">
                <a:solidFill>
                  <a:srgbClr val="FFD300"/>
                </a:solidFill>
              </a:rPr>
              <a:t>Online Website </a:t>
            </a:r>
            <a:r>
              <a:rPr lang="en-US">
                <a:solidFill>
                  <a:schemeClr val="bg1"/>
                </a:solidFill>
              </a:rPr>
              <a:t>to improve digital adoption.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Rebalance product portfolio by expanding </a:t>
            </a:r>
            <a:r>
              <a:rPr lang="en-US" b="1">
                <a:solidFill>
                  <a:srgbClr val="FFD300"/>
                </a:solidFill>
              </a:rPr>
              <a:t>POL2005HEL </a:t>
            </a:r>
            <a:r>
              <a:rPr lang="en-US">
                <a:solidFill>
                  <a:schemeClr val="bg1"/>
                </a:solidFill>
              </a:rPr>
              <a:t>reach &amp; improving </a:t>
            </a:r>
            <a:r>
              <a:rPr lang="en-US" b="1">
                <a:solidFill>
                  <a:srgbClr val="FFD300"/>
                </a:solidFill>
              </a:rPr>
              <a:t>POL4321HEL</a:t>
            </a:r>
            <a:r>
              <a:rPr lang="en-US">
                <a:solidFill>
                  <a:schemeClr val="bg1"/>
                </a:solidFill>
              </a:rPr>
              <a:t> revenue quality.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Replicate </a:t>
            </a:r>
            <a:r>
              <a:rPr lang="en-US" b="1">
                <a:solidFill>
                  <a:srgbClr val="FFD300"/>
                </a:solidFill>
              </a:rPr>
              <a:t>Delhi NCR’s </a:t>
            </a:r>
            <a:r>
              <a:rPr lang="en-US">
                <a:solidFill>
                  <a:schemeClr val="bg1"/>
                </a:solidFill>
              </a:rPr>
              <a:t>successful sales model across other high-potential or underperforming cities.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Use</a:t>
            </a:r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 b="1">
                <a:solidFill>
                  <a:srgbClr val="FFD300"/>
                </a:solidFill>
              </a:rPr>
              <a:t>March</a:t>
            </a:r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success patterns and introduce promotional campaigns to uplift weak months like </a:t>
            </a:r>
            <a:r>
              <a:rPr lang="en-US" b="1">
                <a:solidFill>
                  <a:srgbClr val="FFD300"/>
                </a:solidFill>
              </a:rPr>
              <a:t>November</a:t>
            </a:r>
            <a:r>
              <a:rPr lang="en-US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46A31-DEE5-A381-D60E-443ACE518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34" y="4522474"/>
            <a:ext cx="2086466" cy="23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64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CC76B3-21F9-6EB5-F961-01191EA48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52" y="1198907"/>
            <a:ext cx="3939095" cy="446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38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</TotalTime>
  <Words>752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Patoliya</dc:creator>
  <cp:lastModifiedBy>Parth Patoliya</cp:lastModifiedBy>
  <cp:revision>7</cp:revision>
  <dcterms:created xsi:type="dcterms:W3CDTF">2026-02-01T19:09:18Z</dcterms:created>
  <dcterms:modified xsi:type="dcterms:W3CDTF">2026-02-03T12:37:37Z</dcterms:modified>
</cp:coreProperties>
</file>